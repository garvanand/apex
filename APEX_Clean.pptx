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5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79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APEX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3017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Presence &amp;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Phone × Laptop Ecosystem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502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APEX?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context-aware cognitive OS that uses the iQOO phone as a real-time sensor array and the laptop as the adaptive execution environment — connected via the iQOO Office Kit bridge.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7040880" cy="129844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20240"/>
            <a:ext cx="54864" cy="12984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2048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34086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Input Layer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25786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tap cadence, app-switching &amp; ambient audio to detect cognitive state in real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7040880" cy="129844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383280"/>
            <a:ext cx="54864" cy="12984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511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80390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Office Kit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404164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bidirectional command passing between phone and laptop.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846320"/>
            <a:ext cx="7040880" cy="129844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846320"/>
            <a:ext cx="54864" cy="129844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974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LAPTOP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5266944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Execution Layer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550468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workspace — closes tabs, enables DND, pins docs — in under 4 seconds.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658368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Multi-Agent OS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731520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95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AGENTS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909560" y="1207008"/>
            <a:ext cx="3931920" cy="841248"/>
          </a:xfrm>
          <a:prstGeom prst="rect">
            <a:avLst/>
          </a:prstGeom>
          <a:solidFill>
            <a:srgbClr val="F9F9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3568" y="1280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94192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394192" y="155448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F3CC"/>
          </a:solidFill>
          <a:ln w="5080">
            <a:solidFill>
              <a:srgbClr val="F5C51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15544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7973568" y="1755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tap cadence &amp; app-switching. Classifies: Flow / Distracted / Fatigued.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909560" y="2167128"/>
            <a:ext cx="393192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3568" y="22402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394192" y="2221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Sentinel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94192" y="251460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F3CC"/>
          </a:solidFill>
          <a:ln w="5080">
            <a:solidFill>
              <a:srgbClr val="F5C5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2514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7973568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calendar data. Computes urgency score 0–100. Flags no-buffer scenarios.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09560" y="3127248"/>
            <a:ext cx="3931920" cy="841248"/>
          </a:xfrm>
          <a:prstGeom prst="rect">
            <a:avLst/>
          </a:prstGeom>
          <a:solidFill>
            <a:srgbClr val="F9F9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73568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4192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Sculptor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394192" y="347472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0F0F0"/>
          </a:solidFill>
          <a:ln w="5080">
            <a:solidFill>
              <a:srgbClr val="BBBBB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34747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973568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distracting tabs, enables DND, pins docs. Reshapes workspace in &lt;4s.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09560" y="4087368"/>
            <a:ext cx="393192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73568" y="4160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394192" y="4142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Radar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94192" y="443484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FF3CC"/>
          </a:solidFill>
          <a:ln w="5080">
            <a:solidFill>
              <a:srgbClr val="F5C51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7973568" y="4636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academic group chats. Surfaces key peer insights without breaking focus.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909560" y="5047488"/>
            <a:ext cx="3931920" cy="841248"/>
          </a:xfrm>
          <a:prstGeom prst="rect">
            <a:avLst/>
          </a:prstGeom>
          <a:solidFill>
            <a:srgbClr val="F9F9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73568" y="5120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94192" y="5102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Challenger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394192" y="5394960"/>
            <a:ext cx="640080" cy="182880"/>
          </a:xfrm>
          <a:prstGeom prst="roundRect">
            <a:avLst>
              <a:gd name="adj" fmla="val 25000"/>
            </a:avLst>
          </a:prstGeom>
          <a:solidFill>
            <a:srgbClr val="F0F0F0"/>
          </a:solidFill>
          <a:ln w="5080">
            <a:solidFill>
              <a:srgbClr val="BBBBB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94192" y="5394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7973568" y="5596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voice transcripts and generates adversarial counterarguments in real time.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0" y="6172200"/>
            <a:ext cx="12161520" cy="685800"/>
          </a:xfrm>
          <a:prstGeom prst="rect">
            <a:avLst/>
          </a:prstGeom>
          <a:solidFill>
            <a:srgbClr val="F9F9F9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11480" y="617220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LAYER (Cognitive Input)  →  iQOO OFFICE KIT BRIDGE (&lt;100ms)  →  LAPTOP LAYER (Adaptive Execution)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 &amp; COMPETITIVE EDGE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519" b="3327"/>
          <a:stretch>
            <a:fillRect/>
          </a:stretch>
        </p:blipFill>
        <p:spPr>
          <a:xfrm>
            <a:off x="301752" y="660654"/>
            <a:ext cx="11612880" cy="4614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52578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522499"/>
              </p:ext>
            </p:extLst>
          </p:nvPr>
        </p:nvGraphicFramePr>
        <p:xfrm>
          <a:off x="429768" y="5478018"/>
          <a:ext cx="5967984" cy="1333500"/>
        </p:xfrm>
        <a:graphic>
          <a:graphicData uri="http://schemas.openxmlformats.org/drawingml/2006/table">
            <a:tbl>
              <a:tblPr/>
              <a:tblGrid>
                <a:gridCol w="262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7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/ 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0D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State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Urgency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A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Workspace Reshape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AA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Insight Filtering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11440" y="5312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7711440" y="5605272"/>
            <a:ext cx="1920240" cy="914400"/>
          </a:xfrm>
          <a:prstGeom prst="rect">
            <a:avLst/>
          </a:prstGeom>
          <a:solidFill>
            <a:srgbClr val="FAFA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11440" y="5605272"/>
            <a:ext cx="19202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02880" y="5696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Chaos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802880" y="5971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Distraction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802880" y="6172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removed, clarity restored automatically.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9768840" y="5605272"/>
            <a:ext cx="1920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68840" y="5605272"/>
            <a:ext cx="192024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60280" y="5696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Flow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860280" y="5971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Focus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860280" y="6172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built around mental state in real time.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830312" y="6949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830312" y="7223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Completion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830312" y="7379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9887712" y="7379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287</Words>
  <Application>Microsoft Office PowerPoint</Application>
  <PresentationFormat>Widescreen</PresentationFormat>
  <Paragraphs>73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Garv Anand</cp:lastModifiedBy>
  <cp:revision>2</cp:revision>
  <dcterms:created xsi:type="dcterms:W3CDTF">2026-06-02T17:09:05Z</dcterms:created>
  <dcterms:modified xsi:type="dcterms:W3CDTF">2026-06-02T17:18:37Z</dcterms:modified>
</cp:coreProperties>
</file>